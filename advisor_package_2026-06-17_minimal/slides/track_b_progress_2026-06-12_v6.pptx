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开场:今天汇报两件事:1) 视觉 LLM judge 的验证已经按文献标准完成,可以冻结了;2) 排行榜 Schema v1 已经做好 demo,需要您的反馈。主线问题:凭什么相信一个 LLM 的审美判断?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背景:被测模型按需求生成多页网站 → 统一协议截图(1440×900)→ judge 对每页回答16项二元检查表(排版/布局/颜色/整体),页面分=通过比例。右边是真实例子。核心问题:凭什么信 LLM 的审美?唯一站得住的回答:它和人的一致程度,不低于人和人之间的一致程度。后面三个实验都围绕这句话。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三个组件:1) strict=措辞要求批判性。yes-bias 要解释:LLM 默认倾向几乎每项都答“符合”,不加约束 judge 会照单全收。2) few-shot=提示词里放3个带人工金标准答案的示例页,这3页就叫“锚点”(实验三测的就是它们)。右图是差例锚点:F10首页,人工0.50——注意它是【原始未扰动页面】里最差的;研究里确实有更差的页面,但那些是加了扰动/弱模型的变体,做锚点必须用原始页+原始评审的金标准,所以不能用。3) 3次重复+逐项多数投票:temperature=0 本应让输出可复现,但实测 API 仍不确定(服务端批处理/路由),16页里5页会变,最大摆动0.44,全集中在临界页——恰好是排名易翻转处。投票降方差;成本每个产物几美分。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两个系数各配一个例子:r 回答“排序是否一致”——例:人给三页打1.0/0.875/0.50,judge 打0.9/0.8/0.4,数值不同但排序相同,r≈1。我们原始集实测0.60;陷阱是量程限制:原始页全是好页(0.875–1.0),没有质量差距可解释,r 被机械压低(Sackett &amp; Yang 2000)——这就是实验一的动机。κ 回答“逐项一致里有多少不是蒙的”——例:好页面上大多数项本来就该答“符合”,两人闭眼全答“符合”也有≈85%一致;κ 只算超出这部分的一致。我们实测原始一致率0.85 扣完只剩0.067。所以原始一致率不能当证据,这是文献检查逼我们改的第一件事。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实验一:仿照 UIClip 用确定性 CSS 注入构造已知排序(原版&gt;轻度&gt;重度),再加真实弱模型产物,把质量范围从0.875–1.0拉到0.34–1.0。看图:轻度和原版几乎看不出差别(人类18组三元组里0次认为原版更好——“任何扰动都更差”的假设被人推翻,judge 在 mild 上分不出是和人一致,不是失败);重度明显崩坏;最右是 qwen3-omni 的真实弱页面。结果:三个 judge 区分原版vs重度准确率0.91–0.94、零反转;全量程上 κ 从0.067升到0.360,r 升到0.62–0.69。结论:之前的中等 r 是数据量程问题,judge 对中大差距的辨别力是真的——论文里视觉指标的核心辩护。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实验二的核心就一句话:judge 和人的一致度,只要追平或超过【人和人之间】的一致度,就够格当裁判。两位盲评朋友(A评1–28页,B评29–56页)+作者=3名评分者、两个人-人对,κ=0.294和0.324,都≈0.3,这就是“人类上限”——因为每项都是二元审美判断,两个认真的人也常不一致,所以不能套用教科书的κ&gt;0.6。gpt-4.1-mini 对三人κ 0.350/0.251/0.426,均值0.342,落在并略高于人类区间→合格,现已冻结为生产裁判;gemma/claude 低于上限,淘汰。表格里数字记不住没关系,记住“追平人类上限”这个判据即可。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实验三。先说清:这里的 anchor 就是第3页讲的 few-shot 那3个示例页。主实验:把锚点换成没有真正差例的一组(跨度0.69–1.0),judge 当场坍缩回 yes-bias——16页里15页打满分,方差归零;对照组(同 provider 同提示词,只换回默认锚点)方差正常,归因干净:坍缩是锚点引起的。
金发女孩细化(受控单变量):在默认3锚点之外再加一个更狠的0.25低锚点,κ 反而降~0.10(超过±0.05噪声),两个评分者一致。所以坏锚点不能没有(否则坍缩),也不能太狠(过度纠正)——0.50这个中度低锚点才是校准甜点。
为什么用作者标注当 gold(导师可能问):我专门做了多评分者“裁定共识”锚点集(5个分歧项由作者+朋友裁定),和作者-gold 在同45页上对打,结果共识锚点 κ 反而更低(0.306/0.281 vs 0.353/0.340),所以保留作者-gold,单标注者 gold 作为已记录的局限。
 provider 更正:之前担心的“tuzi偏松”已被证伪——那是全好原始集+坏渐变共识锚点造成的假象,不是 provider 属性;在有区分度的集合上 tuzi 也会把弱页打低。两家质量等价(κ相当、判分均值都落在人类区间),最终选 ChatAnywhere(快、稳、已持原认证),tuzi 留作已验证的便宜但慢的备用;换 provider 需一次约5分钟重验证,且正式批次内必须固定。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回顾:刚才三个实验的每个设计选择都有具体出处,不是自创流程。Design2Code 用5名标注者+多数投票——所以单评分者不够,我们补招了两位;MLLM-as-UI-Judge 发现 judge 只在大差距上可靠——排行榜定位只区分中大差距;LLM-judge 综述要求机会校正的κ,通用线κ&gt;0.6 假设任务人类共识高,审美任务要实测真实上限替代;Judge's Verdict 是实验二认证两步法的出处;UIClip 是实验一缺陷注入的出处;CheckEval+Preston&amp;Colman 支撑二元检查表的取舍。
如果被问“为什么不要求 κ&gt;0.6”:能到 κ&gt;0.6 的数据集靠的是【客观可核验的任务+标注员培训/指南/校准+可计数的题目措辞】,不是靠 yes/no 量表(我们已经是 yes/no)。我们的 κ≈0.3 上限和主观 UI-judge 文献(MLLM-as-UI-Judge、WebDevJudge 都只报告中等相关)一致——这正好印证“对照人类上限”这个框架是对的,而不是我们的 judge 不行。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生成侧简要带过(只是上下文,论文贡献在评估侧):当前协议 TB-GEN-v16,压缩输入省 token;按 OpenAI 兼容策略省略 max_tokens 避免人为截断;静态门控放宽,轻微代码缺陷不再整体拒绝。可复现性:prompt-ID 治理,每个产物记录由哪个 prompt+输入配置生成;失败按类别记录(provider/截断/动态),不静默丢弃;每次运行都记录原始 token 和延迟。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 v1 有可运行 demo,右表是真实输出。三个设计原则:容器与公式分离;失败感知(每行记录尝试/合格/失败计数和失败分类,失败不被静默丢弃,比如 omni 的 F01 截断失败显式出现在表里);“不适用”≠0分。指标说明:Rel.=完成可靠性,即尝试中没有 provider/截断失败的比例;Stat.=静态技术分,代码层检查(HTML/CSS/JS 解析、控制台报错、缺失资源);Dyn.=动态工作流分,真实浏览器跑通路由+验证必需内容。待接入的槽位:视觉分(judge 冻结后)、无障碍分=axe-core 自动扫描,违规按严重度加权、按页面规模归一(即“severity-weighted violation density”)、效率分(token/延迟)。总分列故意留空:类别权重是价值判断,需要您拍板。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收尾:judge 已经冻结(配置:gpt-4.1-mini+strict+锚点0.50/0.75/1.0+3-rep,ChatAnywhere)。后续顺序——prompt+锚点逐字进附录(已部分完成)→ 给标准化截图打分填上 Static Visual 列 → coverage 子指标 → 第一个正式评测批次。今天真正需要您拍板的只有两件:类别权重(决定总分怎么算)和 Schema v1 反馈;judge 冻结是已交付的成果,知会即可。
【Q&amp;A 备用】技术覆盖度子指标(Technical-coverage submetrics):现在技术分只看静态门控过/不过,但门控故意放宽后几乎人人通过、通过率≈1对每个模型都一样,技术这一维分不出高低。覆盖度子指标改成量‘把题目要求的东西实现了多少’,每个都是0–1比例:必需元素覆盖(要求的组件建了几个/共几个)、必需文本覆盖、路由声明覆盖、表单字段覆盖、选择器/ID覆盖、无障碍基础;技术分=适用子指标的平均(定义见 metric_specification.md)。例:建8/10个required组件得0.8 vs 5/10得0.5,区分度就回来了。它是排行榜的一个评分大类,不做技术列就是死列;但属于指标工程,不是研究贡献,优先级在 judge 冻结之后、第一个正式批次之前。
T1/T3 两项排版检查人类间 κ≈0.07(措辞有歧义),留给完整重验证的 LB-JUDGE-v2,不动已冻结的 v1。Provider:已验证 tuzi≈ChatAnywhere,固定用 ChatAnywhere,换 provider 需约5分钟重验证。
κ 公式问题:κ=(Po−Pe)/(1−Pe) 出自 Cohen 1960,虽老但是公认标准,无更新替代;Krippendorff α、Gwet AC1 是同一‘扣机会’思想的推广(多评分者/有序量表用),我们论文草稿 ch4 就用 α。‘符合’基率约90%(笔记 revision_log 第392行),所以 Pe≈0.84。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2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kern="0" spc="300" dirty="0">
                <a:solidFill>
                  <a:srgbClr val="8FD6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B Progress Report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8638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Validating the Visual LLM Judge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&amp; Leaderboard Schema v1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Master thesis: GUI Quality Evaluation with Multimodal LLMs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Xinyang  ·  2026-06-12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Background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10896" cy="31089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4" name="Text 2"/>
          <p:cNvSpPr/>
          <p:nvPr/>
        </p:nvSpPr>
        <p:spPr>
          <a:xfrm>
            <a:off x="457200" y="10058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96112" y="960120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Candidate model generates a multi-page website from the item spec (e.g. F01 → 7 pages)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755648"/>
            <a:ext cx="310896" cy="31089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7" name="Text 5"/>
          <p:cNvSpPr/>
          <p:nvPr/>
        </p:nvSpPr>
        <p:spPr>
          <a:xfrm>
            <a:off x="457200" y="17556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1709928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Standardized screenshots: 1440×900, fixed wait, same protocol for every artifact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10896" cy="310896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/>
        </p:nvSpPr>
        <p:spPr>
          <a:xfrm>
            <a:off x="457200" y="250545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459736"/>
            <a:ext cx="3749040" cy="7132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LLM judge answers a 16-item binary checklist per page — Typography / Layout / Color / Overall; page score = fraction of items passed (0–1)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337560"/>
            <a:ext cx="418795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337560"/>
            <a:ext cx="64008" cy="14173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658368" y="3456432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question: </a:t>
            </a:r>
            <a:r>
              <a:rPr lang="en-US" sz="12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trust an LLM’s aesthetic judgment?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defensible answer: it must agree with human raters as well as humans agree with each other.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736592" y="932688"/>
            <a:ext cx="4023360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pic>
        <p:nvPicPr>
          <p:cNvPr id="16" name="Image 0" descr="D:/master_thesis/presentations/review_ui_car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773168" y="969264"/>
            <a:ext cx="3950208" cy="16276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4736592" y="2706624"/>
            <a:ext cx="4023360" cy="868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scoring interface: screenshot on the left, the 16 yes/no items on the right (L1–L4 layout · O1–O4 information · T1–T4 typography · C colour). Humans and the LLM judge answer the exact same checklist.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736592" y="3611880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 shown: F01 “1DAY CLOUD” services page.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Judge Configuration, Explained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gpt-4.1-mini  ·  strict + few-shot prompt  ·  3 repetitions with majority vote</a:t>
            </a:r>
            <a:endParaRPr lang="en-US" sz="1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078992"/>
            <a:ext cx="507492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078992"/>
            <a:ext cx="64008" cy="1161288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58368" y="1152144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</a:t>
            </a:r>
            <a:endParaRPr lang="en-US" sz="12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658368" y="1408176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wording demands critical judgment: “when in doubt, mark violated”.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Counters yes-bias — the LLM’s default tendency to answer “satisfied” on almost every item; without it the judge accepts nearly everything.</a:t>
            </a:r>
            <a:endParaRPr lang="en-US" sz="1000" dirty="0"/>
          </a:p>
        </p:txBody>
      </p:sp>
      <p:sp>
        <p:nvSpPr>
          <p:cNvPr id="8" name="Shape 6"/>
          <p:cNvSpPr/>
          <p:nvPr>
            <p:custDataLst>
              <p:tags r:id="rId5"/>
            </p:custDataLst>
          </p:nvPr>
        </p:nvSpPr>
        <p:spPr>
          <a:xfrm>
            <a:off x="457200" y="2377440"/>
            <a:ext cx="507492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57200" y="2377440"/>
            <a:ext cx="64008" cy="1161288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10" name="Text 8"/>
          <p:cNvSpPr/>
          <p:nvPr>
            <p:custDataLst>
              <p:tags r:id="rId7"/>
            </p:custDataLst>
          </p:nvPr>
        </p:nvSpPr>
        <p:spPr>
          <a:xfrm>
            <a:off x="658368" y="2450592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FEW-SHOT (the “anchors”)</a:t>
            </a:r>
            <a:endParaRPr lang="en-US" sz="1200" dirty="0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658368" y="2706624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shows 3 example pages with human gold answers: bad 0.50 / medium 0.75 / good 1.0 (F10 home / F01 contact / F01 academy).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Demonstrates that answering “violated” is normal and expected — and this anchor set turns out to be load-bearing.</a:t>
            </a:r>
            <a:endParaRPr lang="en-US" sz="1000" dirty="0"/>
          </a:p>
        </p:txBody>
      </p:sp>
      <p:sp>
        <p:nvSpPr>
          <p:cNvPr id="12" name="Shape 10"/>
          <p:cNvSpPr/>
          <p:nvPr>
            <p:custDataLst>
              <p:tags r:id="rId9"/>
            </p:custDataLst>
          </p:nvPr>
        </p:nvSpPr>
        <p:spPr>
          <a:xfrm>
            <a:off x="457200" y="3675888"/>
            <a:ext cx="5074920" cy="116128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457200" y="3675888"/>
            <a:ext cx="64008" cy="1161288"/>
          </a:xfrm>
          <a:prstGeom prst="rect">
            <a:avLst/>
          </a:prstGeom>
          <a:solidFill>
            <a:srgbClr val="B9770E"/>
          </a:solidFill>
        </p:spPr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658368" y="3749040"/>
            <a:ext cx="47548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977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3-REP MAJORITY VOTE</a:t>
            </a:r>
            <a:endParaRPr lang="en-US" sz="12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658368" y="4005072"/>
            <a:ext cx="475488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page judged 3×; each item takes the majority answer.  </a:t>
            </a:r>
            <a:endParaRPr lang="en-US" sz="10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Why: Even at temperature=0 — the API setting that is supposed to make outputs repeatable — results vary: 5/16 pages changed across repeats (max swing 0.44).</a:t>
            </a:r>
            <a:endParaRPr lang="en-US" sz="1000" dirty="0"/>
          </a:p>
        </p:txBody>
      </p:sp>
      <p:pic>
        <p:nvPicPr>
          <p:cNvPr id="16" name="Image 0" descr="D:/master_thesis/data/track_b/items/F10_gourmania/generated/gwdg_qwen36_35b_v9_smoke/standard_screenshots/01_homepage.png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5806440" y="1188720"/>
            <a:ext cx="2880360" cy="180136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806440" y="3063240"/>
            <a:ext cx="28803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“bad” anchor: F10 homepage — the lowest-scoring ORIGINAL page (human 0.50).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806440" y="393192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Cost: 3× calls ≈ cents per artifact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Two Numbers We Report — and Why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are read against a measured human ceiling, not textbook bars</a:t>
            </a:r>
            <a:endParaRPr lang="en-US" sz="1200" dirty="0"/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457200" y="1005840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>
            <p:custDataLst>
              <p:tags r:id="rId2"/>
            </p:custDataLst>
          </p:nvPr>
        </p:nvSpPr>
        <p:spPr>
          <a:xfrm>
            <a:off x="457200" y="1005840"/>
            <a:ext cx="64008" cy="33832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685800" y="10972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</a:t>
            </a:r>
            <a:endParaRPr lang="en-US" sz="4000" dirty="0"/>
          </a:p>
        </p:txBody>
      </p:sp>
      <p:sp>
        <p:nvSpPr>
          <p:cNvPr id="7" name="Text 5"/>
          <p:cNvSpPr/>
          <p:nvPr>
            <p:custDataLst>
              <p:tags r:id="rId4"/>
            </p:custDataLst>
          </p:nvPr>
        </p:nvSpPr>
        <p:spPr>
          <a:xfrm>
            <a:off x="1508760" y="1234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Pearson correlation — page level</a:t>
            </a:r>
            <a:endParaRPr lang="en-US" sz="1150" dirty="0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685800" y="1783080"/>
            <a:ext cx="3611880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do judge and human rank pages the same way? (−1…+1)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human scores 3 pages 1.0 / 0.875 / 0.50. A judge saying 0.9 / 0.8 / 0.4 ranks them identically → r ≈ 1, even though the values differ.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data: r = 0.60 on the original 15-page set.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Pitfall — range restriction: all original pages were good (0.875–1.0); with no real quality spread, r is mechanically low (Sackett &amp; Yang 2000) — widen the range and it rises to 0.69 (next slide).</a:t>
            </a:r>
            <a:endParaRPr lang="en-US" sz="1050" dirty="0"/>
          </a:p>
        </p:txBody>
      </p:sp>
      <p:sp>
        <p:nvSpPr>
          <p:cNvPr id="9" name="Shape 7"/>
          <p:cNvSpPr/>
          <p:nvPr>
            <p:custDataLst>
              <p:tags r:id="rId6"/>
            </p:custDataLst>
          </p:nvPr>
        </p:nvSpPr>
        <p:spPr>
          <a:xfrm>
            <a:off x="4663440" y="1005840"/>
            <a:ext cx="4023360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4663440" y="1005840"/>
            <a:ext cx="64008" cy="3383280"/>
          </a:xfrm>
          <a:prstGeom prst="rect">
            <a:avLst/>
          </a:prstGeom>
          <a:solidFill>
            <a:srgbClr val="B9770E"/>
          </a:solidFill>
        </p:spPr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4892040" y="1097280"/>
            <a:ext cx="731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B9770E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κ</a:t>
            </a:r>
            <a:endParaRPr lang="en-US" sz="40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5715000" y="1234440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Cohen’s kappa — item level, chance-corrected</a:t>
            </a:r>
            <a:endParaRPr lang="en-US" sz="1150" dirty="0"/>
          </a:p>
        </p:txBody>
      </p:sp>
      <p:sp>
        <p:nvSpPr>
          <p:cNvPr id="13" name="Text 11"/>
          <p:cNvSpPr/>
          <p:nvPr>
            <p:custDataLst>
              <p:tags r:id="rId10"/>
            </p:custDataLst>
          </p:nvPr>
        </p:nvSpPr>
        <p:spPr>
          <a:xfrm>
            <a:off x="4892040" y="1783080"/>
            <a:ext cx="3611880" cy="2514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Purpose: agreement on the 16 yes/no items, after subtracting lucky agreement.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B977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Example: on good pages most answers are “satisfied” anyway — two raters blindly answering all-“satisfied” already agree ≈85% of the time. κ counts only agreement beyond that.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Our data: observed 0.85, but chance agreement ≈ 0.84, so κ = (0.85−0.84) / (1−0.84) ≈ 0.07 — almost all of the “high agreement” was base-rate.</a:t>
            </a:r>
            <a:endParaRPr lang="en-US" sz="1050" dirty="0"/>
          </a:p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required: Cohen (1960) — raw agreement counts lucky matches as skill, so report chance-corrected κ (standard in LLM-judge surveys, Zheng 2023 / Li 2025).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Lesson learned: our first validation reported only raw agreement — the literature check forced both corrections.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 1 — Defect Injection (Jitter)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low r was the data, not the judge — UIClip-style CSS defects build a known quality ordering</a:t>
            </a:r>
            <a:endParaRPr lang="en-US" sz="1200" dirty="0"/>
          </a:p>
        </p:txBody>
      </p:sp>
      <p:pic>
        <p:nvPicPr>
          <p:cNvPr id="4" name="Image 0" descr="D:/master_thesis/data/track_b/items/F01_1daycloud/generated/gwdg_qwen36_35b_v9_smoke/standard_screenshots/01_home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7200" y="914400"/>
            <a:ext cx="205740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39696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Original — human ≈ 0.9–1.0</a:t>
            </a:r>
            <a:endParaRPr lang="en-US" sz="950" dirty="0"/>
          </a:p>
        </p:txBody>
      </p:sp>
      <p:pic>
        <p:nvPicPr>
          <p:cNvPr id="6" name="Image 1" descr="D:/master_thesis/data/track_b/items/F01_1daycloud/generated/gwdg_qwen36_35b_v9_smoke_jitter_mild/standard_screenshots/01_hom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587752" y="914400"/>
            <a:ext cx="2057400" cy="11887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87752" y="2139696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Mild jitter — humans: NOT worse (0/18)</a:t>
            </a:r>
            <a:endParaRPr lang="en-US" sz="950" dirty="0"/>
          </a:p>
        </p:txBody>
      </p:sp>
      <p:pic>
        <p:nvPicPr>
          <p:cNvPr id="8" name="Image 2" descr="D:/master_thesis/data/track_b/items/F01_1daycloud/generated/gwdg_qwen36_35b_v9_smoke_jitter_severe/standard_screenshots/01_hom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18304" y="914400"/>
            <a:ext cx="2057400" cy="11887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718304" y="2139696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Severe jitter — obviously damaged</a:t>
            </a:r>
            <a:endParaRPr lang="en-US" sz="950" dirty="0"/>
          </a:p>
        </p:txBody>
      </p:sp>
      <p:pic>
        <p:nvPicPr>
          <p:cNvPr id="10" name="Image 3" descr="D:/master_thesis/data/track_b/items/F10_gourmania/generated/gwdg_qwen3_omni_30b_v9_smoke/standard_screenshots/01_homepag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848856" y="914400"/>
            <a:ext cx="2057400" cy="11887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48856" y="2139696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77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weak model — human 0.344</a:t>
            </a:r>
            <a:endParaRPr lang="en-US" sz="950" dirty="0"/>
          </a:p>
        </p:txBody>
      </p:sp>
      <p:sp>
        <p:nvSpPr>
          <p:cNvPr id="12" name="Text 6"/>
          <p:cNvSpPr/>
          <p:nvPr/>
        </p:nvSpPr>
        <p:spPr>
          <a:xfrm>
            <a:off x="502920" y="2615184"/>
            <a:ext cx="26517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  Can it tell good from bad?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3246120" y="2615184"/>
            <a:ext cx="53949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  Why the original r looked low — range restriction</a:t>
            </a:r>
            <a:endParaRPr lang="en-US" sz="1050" dirty="0"/>
          </a:p>
        </p:txBody>
      </p:sp>
      <p:sp>
        <p:nvSpPr>
          <p:cNvPr id="14" name="Shape 8"/>
          <p:cNvSpPr/>
          <p:nvPr/>
        </p:nvSpPr>
        <p:spPr>
          <a:xfrm>
            <a:off x="3127248" y="2926080"/>
            <a:ext cx="0" cy="9601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502920" y="294436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844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0.91–0.94</a:t>
            </a:r>
            <a:endParaRPr lang="en-US" sz="3000" dirty="0"/>
          </a:p>
        </p:txBody>
      </p:sp>
      <p:sp>
        <p:nvSpPr>
          <p:cNvPr id="16" name="Text 10"/>
          <p:cNvSpPr/>
          <p:nvPr/>
        </p:nvSpPr>
        <p:spPr>
          <a:xfrm>
            <a:off x="502920" y="34930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pairwise accuracy: ranks good above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clearly-bad pages — 0 mistakes, all 3 judges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3291840" y="2990088"/>
            <a:ext cx="25603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0.067 → 0.360</a:t>
            </a:r>
            <a:endParaRPr lang="en-US" sz="2400" dirty="0"/>
          </a:p>
        </p:txBody>
      </p:sp>
      <p:sp>
        <p:nvSpPr>
          <p:cNvPr id="18" name="Text 12"/>
          <p:cNvSpPr/>
          <p:nvPr/>
        </p:nvSpPr>
        <p:spPr>
          <a:xfrm>
            <a:off x="3291840" y="3538728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κ rises once bad/weak pages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 real defects to detect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6035040" y="2944368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0.60 → 0.69</a:t>
            </a:r>
            <a:endParaRPr lang="en-US" sz="3000" dirty="0"/>
          </a:p>
        </p:txBody>
      </p:sp>
      <p:sp>
        <p:nvSpPr>
          <p:cNvPr id="20" name="Text 14"/>
          <p:cNvSpPr/>
          <p:nvPr/>
        </p:nvSpPr>
        <p:spPr>
          <a:xfrm>
            <a:off x="6035040" y="349300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 rises once the set spans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bad AND good pages (not all good)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4114800"/>
            <a:ext cx="822960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457200" y="4114800"/>
            <a:ext cx="64008" cy="713232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3" name="Text 17"/>
          <p:cNvSpPr/>
          <p:nvPr/>
        </p:nvSpPr>
        <p:spPr>
          <a:xfrm>
            <a:off x="640080" y="4187952"/>
            <a:ext cx="7909560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Conclusion: the original r was low because all 15 pages were good — there was no quality range to measure, not a weak judge. Given real quality gaps, the judge discriminates reliably. (This is the core defence of the visual metric.)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 2 — Human Ceiling &amp; Judge Certification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raters: author + 2 friends, blind to variants · 56-page extended set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265176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640080" y="1170432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Human–human ceiling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28346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κ = 0.294 / 0.324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2834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independent human pairs, both ≈ 0.31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rule is simple: a judge whose agreement with people MATCHES or BEATS the human ceiling (≈0.31) is as reliable as a human — that is all we need to use it as the judge.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3931920" y="1051560"/>
          <a:ext cx="4754880" cy="1389888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822960"/>
                <a:gridCol w="731520"/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Judge κ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author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friend A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vs friend B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mean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gpt-4.1-mini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0.350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0.251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0.426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E8449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0.342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2E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gemma-4-31b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0.293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0.228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0.216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0.246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claude-sonnet-4-5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0.286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0.264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0.177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0.242</a:t>
                      </a:r>
                      <a:endParaRPr lang="en-US" sz="105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931920" y="2743200"/>
            <a:ext cx="475488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Certification (Judge’s Verdict): </a:t>
            </a: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gpt-4.1-mini straddles and on average exceeds the human range (0.342 ≥ 0.309), symmetric across raters → certified human-level; gemma / claude sit below the ceiling and are asymmetric. </a:t>
            </a:r>
            <a:r>
              <a:rPr lang="en-US" sz="105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config is now the FROZEN production judge.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" y="3931920"/>
            <a:ext cx="82296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3931920"/>
            <a:ext cx="64008" cy="868680"/>
          </a:xfrm>
          <a:prstGeom prst="rect">
            <a:avLst/>
          </a:prstGeom>
          <a:solidFill>
            <a:srgbClr val="1E8449"/>
          </a:solidFill>
        </p:spPr>
      </p:sp>
      <p:sp>
        <p:nvSpPr>
          <p:cNvPr id="14" name="Text 11"/>
          <p:cNvSpPr/>
          <p:nvPr/>
        </p:nvSpPr>
        <p:spPr>
          <a:xfrm>
            <a:off x="640080" y="4023360"/>
            <a:ext cx="790956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line: </a:t>
            </a: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gpt-4.1-mini’s agreement with humans (mean κ 0.342) sits inside / above the human-pair range (0.29–0.32). Its judgments are as human-consistent as a second human would be — so it is qualified, and now frozen, as the production judge.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Exp 3 — Anchor Sensitivity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“anchors” = the 3 few-shot example pages in the judge prompt · completed 2026-06-12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5212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24128"/>
            <a:ext cx="64008" cy="82296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6" name="Text 4"/>
          <p:cNvSpPr/>
          <p:nvPr/>
        </p:nvSpPr>
        <p:spPr>
          <a:xfrm>
            <a:off x="640080" y="1078992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Setup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307592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Swap the 3 few-shot anchors for a set WITHOUT a truly bad exemplar (quality span 0.69–1.0 instead of 0.50–1.0).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212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64008" cy="822960"/>
          </a:xfrm>
          <a:prstGeom prst="rect">
            <a:avLst/>
          </a:prstGeom>
          <a:solidFill>
            <a:srgbClr val="C0392B"/>
          </a:solidFill>
        </p:spPr>
      </p:sp>
      <p:sp>
        <p:nvSpPr>
          <p:cNvPr id="10" name="Text 8"/>
          <p:cNvSpPr/>
          <p:nvPr/>
        </p:nvSpPr>
        <p:spPr>
          <a:xfrm>
            <a:off x="640080" y="1975104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203704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 collapses straight back to yes-bias: 15/16 pages scored a perfect 1.0 — variance ≈ zero.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52120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16352"/>
            <a:ext cx="64008" cy="822960"/>
          </a:xfrm>
          <a:prstGeom prst="rect">
            <a:avLst/>
          </a:prstGeom>
          <a:solidFill>
            <a:srgbClr val="1E8449"/>
          </a:solidFill>
        </p:spPr>
      </p:sp>
      <p:sp>
        <p:nvSpPr>
          <p:cNvPr id="14" name="Text 12"/>
          <p:cNvSpPr/>
          <p:nvPr/>
        </p:nvSpPr>
        <p:spPr>
          <a:xfrm>
            <a:off x="640080" y="2871216"/>
            <a:ext cx="48463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099816"/>
            <a:ext cx="4846320" cy="5120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provider, same prompt, default anchors restored → variance preserved. Attribution is clean: the anchors caused the collapse.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0" y="118872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0392B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 / 16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943600" y="173736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pages scored 1.0 once the moderate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anchor was removed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0" y="24231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28090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 anchor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943600" y="2971800"/>
            <a:ext cx="2743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single human-0.50 exemplar carries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whole calibration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767328"/>
            <a:ext cx="822960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67328"/>
            <a:ext cx="64008" cy="109728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22" name="Text 20"/>
          <p:cNvSpPr/>
          <p:nvPr/>
        </p:nvSpPr>
        <p:spPr>
          <a:xfrm>
            <a:off x="640080" y="3840480"/>
            <a:ext cx="7909560" cy="9601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Freeze rule: </a:t>
            </a:r>
            <a:r>
              <a:rPr lang="en-US" sz="9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moderate 0.50 low anchor + golds are frozen with the judge. Both extremes are worse — removing it → yes-bias collapse; a harsher 0.25 anchor over-corrects (κ −0.10). 0.50 is the calibrated sweet spot.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the author’s own labels as gold? </a:t>
            </a:r>
            <a:r>
              <a:rPr lang="en-US" sz="9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tested a multi-rater adjudicated-consensus anchor set head-to-head — it did NOT improve agreement over author golds, so we kept the simpler choice. Single-rater gold stays a documented limitation.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Validation Follows Literature Standards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design choice traces to a concrete source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06070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Design2Code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017520" y="1060704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annotators + majority vote for human validation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1 rater is below standard; we recruited 2 more raters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655064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1792" y="1709928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MLLM-as-UI-Judge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017520" y="1709928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judges reliable only on LARGE quality gaps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leaderboard scoped to medium/large gaps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04288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" y="2359152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LLM-as-judge surveys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017520" y="2359152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require chance-corrected agreement (κ); generic bar κ&gt;0.6 assumes high human consensus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we measure the task’s real human ceiling instead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953512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" y="3008376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Judge’s Verdict (arXiv:2510.09738)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017520" y="3008376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two-step certification: correlation filter + human-likeness of κ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adopted as our certification protocol (Exp 2)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1792" y="3657600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UIClip (arXiv:2404.12500)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17520" y="3657600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 known CSS defects to build ground-truth ordering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our jitter experiment (Exp 1)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251960"/>
            <a:ext cx="8229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" y="4306824"/>
            <a:ext cx="23317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CheckEval · Preston &amp; Colman 2000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017520" y="4306824"/>
            <a:ext cx="5532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checklists trade sensitivity for reliability   </a:t>
            </a:r>
            <a:r>
              <a:rPr lang="en-US" sz="1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our 16-item binary design (deliberate tradeoff)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Generation Side — Brief Status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other half of the pipeline, mentioned for completeness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64008" cy="201168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6" name="Text 4"/>
          <p:cNvSpPr/>
          <p:nvPr/>
        </p:nvSpPr>
        <p:spPr>
          <a:xfrm>
            <a:off x="640080" y="13075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Generation protocol: TB-GEN-v16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27632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 input packing (reduced prompt tokens)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max_tokens omitted (OpenAI-compatible policy) — avoids artificial truncation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Relaxed static gate: minor code flaws no longer reject the artifact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40233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88720"/>
            <a:ext cx="64008" cy="2011680"/>
          </a:xfrm>
          <a:prstGeom prst="rect">
            <a:avLst/>
          </a:prstGeom>
          <a:solidFill>
            <a:srgbClr val="1E8449"/>
          </a:solidFill>
        </p:spPr>
      </p:sp>
      <p:sp>
        <p:nvSpPr>
          <p:cNvPr id="10" name="Text 8"/>
          <p:cNvSpPr/>
          <p:nvPr/>
        </p:nvSpPr>
        <p:spPr>
          <a:xfrm>
            <a:off x="4846320" y="13075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Reproducibility &amp; failure handling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27632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Prompt-ID governance: every artifact records which prompt + input profile produced 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Failures are categorized (provider / truncation / dynamic), never silently dropped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tokens + latency logged for every run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slide is context only — the thesis contribution is the evaluation side; the generation settings are fixed inputs to 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Leaderboard Schema v1 — Demo Built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track-b-leaderboard-v1 · dev_subset_v16_schema_v1_demo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3520440" cy="3291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Container ≠ formulas: schema defines fields; metric specs define computation — they evolve independently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Failure-aware: every model row records attempted / eligible / failed + failure categories — failures are never silently dropped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Not-applicable ≠ zero: when a metric does not apply to an item, it is marked n/a — never scored 0 (avoids unfair penalty)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b="1" dirty="0">
                <a:solidFill>
                  <a:srgbClr val="B9770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column intentionally pending — category weights are a value judgment for the supervisor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4160520" y="1188720"/>
          <a:ext cx="4572000" cy="1097280"/>
        </p:xfrm>
        <a:graphic>
          <a:graphicData uri="http://schemas.openxmlformats.org/drawingml/2006/table">
            <a:tbl>
              <a:tblPr/>
              <a:tblGrid>
                <a:gridCol w="1298448"/>
                <a:gridCol w="347472"/>
                <a:gridCol w="384048"/>
                <a:gridCol w="365760"/>
                <a:gridCol w="475488"/>
                <a:gridCol w="475488"/>
                <a:gridCol w="475488"/>
                <a:gridCol w="749808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Model (TB-GEN-v16)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Att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Elig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Fail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Rel.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Stat.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Dyn.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Overall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qwen3.6-35b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5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1.000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0.954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0.558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B9770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pending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qwen3-omni-30b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3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2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C0392B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1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0.667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0.846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1F2937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0.500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i="1" dirty="0">
                          <a:solidFill>
                            <a:srgbClr val="B9770E"/>
                          </a:solidFill>
                          <a:latin typeface="Calibri" panose="020F0502020204030204" pitchFamily="34" charset="0"/>
                          <a:ea typeface="Calibri" panose="020F0502020204030204" pitchFamily="34" charset="-122"/>
                          <a:cs typeface="Calibri" panose="020F0502020204030204" pitchFamily="34" charset="-120"/>
                        </a:rPr>
                        <a:t>pending</a:t>
                      </a:r>
                      <a:endParaRPr lang="en-US" sz="9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160520" y="2395728"/>
            <a:ext cx="4526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detail is carried per row, e.g. “F01_1daycloud: completion_truncation_failure”.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160520" y="2788920"/>
            <a:ext cx="4526280" cy="1874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160520" y="2788920"/>
            <a:ext cx="64008" cy="187452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9" name="Text 6"/>
          <p:cNvSpPr/>
          <p:nvPr/>
        </p:nvSpPr>
        <p:spPr>
          <a:xfrm>
            <a:off x="4343400" y="2871216"/>
            <a:ext cx="4206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 key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343400" y="3127248"/>
            <a:ext cx="4206240" cy="148132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Rel. — completion reliability: share of attempts finishing without provider / truncation failure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Stat. — static technical: code-level checks (HTML/CSS/JS parse, console errors, missing resources)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Dyn. — dynamic workflow: real browser run — routes reachable + required content present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F293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Pending slots: visual (after judge freeze) · accessibility = axe-core scan, violations weighted by severity per page (“weighted density”) · efficiency (tokens / latency)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</p:spPr>
      </p:sp>
      <p:sp>
        <p:nvSpPr>
          <p:cNvPr id="3" name="Text 1"/>
          <p:cNvSpPr/>
          <p:nvPr/>
        </p:nvSpPr>
        <p:spPr>
          <a:xfrm>
            <a:off x="731520" y="411480"/>
            <a:ext cx="76809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207008"/>
            <a:ext cx="292608" cy="29260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5" name="Text 3"/>
          <p:cNvSpPr/>
          <p:nvPr/>
        </p:nvSpPr>
        <p:spPr>
          <a:xfrm>
            <a:off x="731520" y="1207008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70432" y="118872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Judge FROZEN — config locked (anchors 0.50/0.75/1.0, 3-rep, ChatAnywhere)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31520" y="1773936"/>
            <a:ext cx="292608" cy="29260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8" name="Text 6"/>
          <p:cNvSpPr/>
          <p:nvPr/>
        </p:nvSpPr>
        <p:spPr>
          <a:xfrm>
            <a:off x="731520" y="1773936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755648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prompts + anchors  → thesis appendix (partly done)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1520" y="2340864"/>
            <a:ext cx="292608" cy="29260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1" name="Text 9"/>
          <p:cNvSpPr/>
          <p:nvPr/>
        </p:nvSpPr>
        <p:spPr>
          <a:xfrm>
            <a:off x="731520" y="2340864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70432" y="2322576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Score standardized screenshots → fill the Static Visual column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1520" y="2907792"/>
            <a:ext cx="292608" cy="29260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4" name="Text 12"/>
          <p:cNvSpPr/>
          <p:nvPr/>
        </p:nvSpPr>
        <p:spPr>
          <a:xfrm>
            <a:off x="731520" y="2907792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889504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Implement Technical-coverage submetrics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3474720"/>
            <a:ext cx="292608" cy="292608"/>
          </a:xfrm>
          <a:prstGeom prst="ellipse">
            <a:avLst/>
          </a:prstGeom>
          <a:solidFill>
            <a:srgbClr val="028090"/>
          </a:solidFill>
        </p:spPr>
      </p:sp>
      <p:sp>
        <p:nvSpPr>
          <p:cNvPr id="17" name="Text 15"/>
          <p:cNvSpPr/>
          <p:nvPr/>
        </p:nvSpPr>
        <p:spPr>
          <a:xfrm>
            <a:off x="731520" y="3474720"/>
            <a:ext cx="292608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70432" y="3456432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First formal evaluation batch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0" y="1188720"/>
            <a:ext cx="3017520" cy="2286000"/>
          </a:xfrm>
          <a:prstGeom prst="rect">
            <a:avLst/>
          </a:prstGeom>
          <a:solidFill>
            <a:srgbClr val="27336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1325880"/>
            <a:ext cx="2606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6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Decisions needed today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97880" y="1737360"/>
            <a:ext cx="26060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Category weights for Overall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Feedback on Schema v1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7680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Thank you — 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2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3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4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5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6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7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8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9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10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11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12.xml><?xml version="1.0" encoding="utf-8"?>
<p:tagLst xmlns:p="http://schemas.openxmlformats.org/presentationml/2006/main">
  <p:tag name="KSO_WM_DIAGRAM_VIRTUALLY_FRAME" val="{&quot;height&quot;:295.92,&quot;left&quot;:36,&quot;top&quot;:84.96000000000001,&quot;width&quot;:399.6}"/>
</p:tagLst>
</file>

<file path=ppt/tags/tag13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4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5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6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7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8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19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20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21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ags/tag22.xml><?xml version="1.0" encoding="utf-8"?>
<p:tagLst xmlns:p="http://schemas.openxmlformats.org/presentationml/2006/main">
  <p:tag name="KSO_WM_DIAGRAM_VIRTUALLY_FRAME" val="{&quot;height&quot;:266.4,&quot;left&quot;:36,&quot;top&quot;:79.2,&quot;width&quot;:64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9089</Words>
  <Application>WPS 演示</Application>
  <PresentationFormat>On-screen Show (16:9)</PresentationFormat>
  <Paragraphs>337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Calibri</vt:lpstr>
      <vt:lpstr>Calibri</vt:lpstr>
      <vt:lpstr>Calibri</vt:lpstr>
      <vt:lpstr>Georgia</vt:lpstr>
      <vt:lpstr>Georgia</vt:lpstr>
      <vt:lpstr>Georgia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B Progress — Visual Judge Validation &amp; Leaderboard Schema v1</dc:title>
  <dc:creator>Xinyang</dc:creator>
  <dc:subject>PptxGenJS Presentation</dc:subject>
  <cp:lastModifiedBy>Stephen x</cp:lastModifiedBy>
  <cp:revision>4</cp:revision>
  <dcterms:created xsi:type="dcterms:W3CDTF">2026-06-16T09:17:00Z</dcterms:created>
  <dcterms:modified xsi:type="dcterms:W3CDTF">2026-06-16T10:34:33Z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BE73C5DD2019480C8FEC9BB60D9F7184_12</vt:lpwstr>
  </property>
</Properties>
</file>